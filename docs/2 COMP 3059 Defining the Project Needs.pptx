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4" r:id="rId2"/>
    <p:sldId id="286" r:id="rId3"/>
    <p:sldId id="258" r:id="rId4"/>
    <p:sldId id="278" r:id="rId5"/>
    <p:sldId id="259" r:id="rId6"/>
    <p:sldId id="260" r:id="rId7"/>
    <p:sldId id="263" r:id="rId8"/>
    <p:sldId id="261" r:id="rId9"/>
    <p:sldId id="262" r:id="rId10"/>
    <p:sldId id="282" r:id="rId11"/>
    <p:sldId id="283" r:id="rId12"/>
    <p:sldId id="284" r:id="rId13"/>
    <p:sldId id="285" r:id="rId14"/>
    <p:sldId id="267" r:id="rId15"/>
    <p:sldId id="268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>
        <p:scale>
          <a:sx n="91" d="100"/>
          <a:sy n="91" d="100"/>
        </p:scale>
        <p:origin x="-121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601AA-A7E2-4808-A47B-8368FE059C00}" type="datetimeFigureOut">
              <a:rPr lang="en-CA" smtClean="0"/>
              <a:pPr/>
              <a:t>14/09/2020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A0EF9-0B0F-40B9-91B1-EFBD0570E7D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63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DBF5F9">
                  <a:shade val="90000"/>
                </a:srgb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067C4E2-2902-4C25-814F-A882E9969B52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9/14/2020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4BCDF5A-BB13-4EEA-885F-E549270E2141}" type="slidenum">
              <a:rPr lang="en-CA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CA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siness.qld.gov.au/business/starting/market-customer-research/swot-analysis/example-swot-analysis" TargetMode="External"/><Relationship Id="rId2" Type="http://schemas.openxmlformats.org/officeDocument/2006/relationships/hyperlink" Target="http://articles.bplans.com/how-to-perform-swot-analysi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Defining the Project Needs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COMP 3059 – Session 2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Agenda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/>
              <a:t>Project Initiation</a:t>
            </a:r>
          </a:p>
          <a:p>
            <a:pPr lvl="1"/>
            <a:r>
              <a:rPr lang="en-CA" dirty="0" smtClean="0"/>
              <a:t>Purpose</a:t>
            </a:r>
          </a:p>
          <a:p>
            <a:pPr lvl="1"/>
            <a:r>
              <a:rPr lang="en-CA" dirty="0" smtClean="0"/>
              <a:t>Common Deliverables</a:t>
            </a:r>
          </a:p>
          <a:p>
            <a:r>
              <a:rPr lang="en-CA" dirty="0" smtClean="0"/>
              <a:t>Process for Defining the Project Need</a:t>
            </a:r>
          </a:p>
          <a:p>
            <a:pPr lvl="1"/>
            <a:r>
              <a:rPr lang="en-CA" dirty="0" smtClean="0"/>
              <a:t>Real Needs</a:t>
            </a:r>
          </a:p>
          <a:p>
            <a:pPr lvl="1"/>
            <a:r>
              <a:rPr lang="en-CA" dirty="0" smtClean="0"/>
              <a:t>Scope</a:t>
            </a:r>
          </a:p>
          <a:p>
            <a:pPr lvl="1"/>
            <a:r>
              <a:rPr lang="en-CA" dirty="0" smtClean="0"/>
              <a:t>Prioritize</a:t>
            </a:r>
          </a:p>
          <a:p>
            <a:pPr lvl="1"/>
            <a:r>
              <a:rPr lang="en-CA" dirty="0" smtClean="0"/>
              <a:t>Stakeholders</a:t>
            </a:r>
          </a:p>
          <a:p>
            <a:pPr lvl="1"/>
            <a:r>
              <a:rPr lang="en-CA" dirty="0" smtClean="0"/>
              <a:t>Responsibility</a:t>
            </a:r>
          </a:p>
          <a:p>
            <a:r>
              <a:rPr lang="en-CA" dirty="0" smtClean="0"/>
              <a:t>FINAL DELIVERABLE:  Project Assessment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659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Initiating a Project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Defining the project scope is an initial step in project management; one paramount towards contributing to the projects success.</a:t>
            </a:r>
          </a:p>
          <a:p>
            <a:r>
              <a:rPr lang="en-CA" dirty="0" smtClean="0"/>
              <a:t>What is the importance of defining this scope?</a:t>
            </a:r>
          </a:p>
          <a:p>
            <a:pPr lvl="1"/>
            <a:r>
              <a:rPr lang="en-CA" dirty="0" smtClean="0"/>
              <a:t>Establishes common understanding for all parties</a:t>
            </a:r>
          </a:p>
          <a:p>
            <a:pPr lvl="1"/>
            <a:r>
              <a:rPr lang="en-CA" dirty="0" smtClean="0"/>
              <a:t>Documents commitment</a:t>
            </a:r>
          </a:p>
          <a:p>
            <a:pPr lvl="1"/>
            <a:r>
              <a:rPr lang="en-CA" dirty="0" smtClean="0"/>
              <a:t>Creates formal project recognition</a:t>
            </a:r>
          </a:p>
          <a:p>
            <a:pPr lvl="1"/>
            <a:r>
              <a:rPr lang="en-CA" dirty="0" smtClean="0"/>
              <a:t>Establishes a target – describing the end result (outcome)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514432"/>
          </a:xfrm>
        </p:spPr>
        <p:txBody>
          <a:bodyPr>
            <a:normAutofit fontScale="90000"/>
          </a:bodyPr>
          <a:lstStyle/>
          <a:p>
            <a:r>
              <a:rPr lang="en-CA" sz="5300" dirty="0" smtClean="0"/>
              <a:t>Deliverables</a:t>
            </a:r>
            <a:r>
              <a:rPr lang="en-CA" dirty="0" smtClean="0"/>
              <a:t> from Project </a:t>
            </a:r>
            <a:br>
              <a:rPr lang="en-CA" dirty="0" smtClean="0"/>
            </a:br>
            <a:r>
              <a:rPr lang="en-CA" dirty="0" smtClean="0"/>
              <a:t>Initiation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17856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Two critical deliverables which emerge from Project Initiation are;</a:t>
            </a:r>
          </a:p>
          <a:p>
            <a:pPr lvl="1"/>
            <a:r>
              <a:rPr lang="en-CA" b="1" dirty="0" smtClean="0"/>
              <a:t>Developing a Charter</a:t>
            </a:r>
          </a:p>
          <a:p>
            <a:pPr lvl="1"/>
            <a:r>
              <a:rPr lang="en-CA" b="1" dirty="0" smtClean="0"/>
              <a:t>Developing a Preliminary Scope Statement</a:t>
            </a:r>
          </a:p>
          <a:p>
            <a:r>
              <a:rPr lang="en-CA" dirty="0" smtClean="0"/>
              <a:t>To achieve this, there are </a:t>
            </a:r>
            <a:r>
              <a:rPr lang="en-CA" u="sng" dirty="0" smtClean="0"/>
              <a:t>five</a:t>
            </a:r>
            <a:r>
              <a:rPr lang="en-CA" dirty="0" smtClean="0"/>
              <a:t> basic steps which must exist;</a:t>
            </a:r>
          </a:p>
          <a:p>
            <a:pPr lvl="1"/>
            <a:r>
              <a:rPr lang="en-CA" dirty="0" smtClean="0"/>
              <a:t>Define charter</a:t>
            </a:r>
          </a:p>
          <a:p>
            <a:pPr lvl="1"/>
            <a:r>
              <a:rPr lang="en-CA" dirty="0" smtClean="0"/>
              <a:t>Define preliminary scope statement</a:t>
            </a:r>
          </a:p>
          <a:p>
            <a:pPr lvl="1"/>
            <a:r>
              <a:rPr lang="en-CA" dirty="0" smtClean="0"/>
              <a:t>Define stakeholders</a:t>
            </a:r>
          </a:p>
          <a:p>
            <a:pPr lvl="1"/>
            <a:r>
              <a:rPr lang="en-CA" dirty="0" smtClean="0"/>
              <a:t>Create RAM</a:t>
            </a:r>
          </a:p>
          <a:p>
            <a:pPr lvl="1"/>
            <a:r>
              <a:rPr lang="en-CA" dirty="0" smtClean="0"/>
              <a:t>Obtain sign-off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Process for Defining a Project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 smtClean="0"/>
              <a:t>Determine the real need (Define Objectives)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Define the end product/service (Define Scope)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Determine project priorities (Prioritize Scope)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Analyze Stakeholders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Create the RAM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1. Determine the ‘Real’ Need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89864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Determine the true driver of a project</a:t>
            </a:r>
          </a:p>
          <a:p>
            <a:r>
              <a:rPr lang="en-CA" dirty="0" smtClean="0"/>
              <a:t>Be sure to research the circumstances that generated the project need.  Ask why it is important to begin the project at this time.</a:t>
            </a:r>
          </a:p>
          <a:p>
            <a:pPr lvl="1"/>
            <a:r>
              <a:rPr lang="en-CA" dirty="0" smtClean="0"/>
              <a:t>Top-Down Initiative (Corporate Directive)</a:t>
            </a:r>
          </a:p>
          <a:p>
            <a:pPr lvl="1"/>
            <a:r>
              <a:rPr lang="en-CA" dirty="0" smtClean="0"/>
              <a:t>Bottom-Up Initiative (Process Enhancement)</a:t>
            </a:r>
          </a:p>
          <a:p>
            <a:pPr lvl="1"/>
            <a:r>
              <a:rPr lang="en-CA" dirty="0" smtClean="0"/>
              <a:t>Competition Change or Challenge</a:t>
            </a:r>
          </a:p>
          <a:p>
            <a:pPr lvl="1"/>
            <a:r>
              <a:rPr lang="en-CA" dirty="0" smtClean="0"/>
              <a:t>Customer Request</a:t>
            </a:r>
          </a:p>
          <a:p>
            <a:pPr lvl="1"/>
            <a:r>
              <a:rPr lang="en-CA" dirty="0" smtClean="0"/>
              <a:t>Technology Advance</a:t>
            </a:r>
          </a:p>
          <a:p>
            <a:r>
              <a:rPr lang="en-CA" dirty="0" smtClean="0"/>
              <a:t>Perform a ‘SWOT’ analysis if needed</a:t>
            </a:r>
          </a:p>
          <a:p>
            <a:r>
              <a:rPr lang="en-CA" sz="1700" dirty="0">
                <a:hlinkClick r:id="rId2"/>
              </a:rPr>
              <a:t>http://articles.bplans.com/how-to-perform-swot-analysis</a:t>
            </a:r>
            <a:r>
              <a:rPr lang="en-CA" sz="1700" dirty="0" smtClean="0">
                <a:hlinkClick r:id="rId2"/>
              </a:rPr>
              <a:t>/</a:t>
            </a:r>
            <a:endParaRPr lang="en-CA" sz="1700" dirty="0" smtClean="0"/>
          </a:p>
          <a:p>
            <a:r>
              <a:rPr lang="en-CA" sz="1700" dirty="0" smtClean="0">
                <a:hlinkClick r:id="rId3"/>
              </a:rPr>
              <a:t>http</a:t>
            </a:r>
            <a:r>
              <a:rPr lang="en-CA" sz="1700" dirty="0">
                <a:hlinkClick r:id="rId3"/>
              </a:rPr>
              <a:t>://</a:t>
            </a:r>
            <a:r>
              <a:rPr lang="en-CA" sz="1700" dirty="0" smtClean="0">
                <a:hlinkClick r:id="rId3"/>
              </a:rPr>
              <a:t>www.business.qld.gov.au/business/starting/market-customer-research/swot-analysis/example-swot-analysis</a:t>
            </a:r>
            <a:endParaRPr lang="en-CA" sz="1700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98408"/>
          </a:xfrm>
        </p:spPr>
        <p:txBody>
          <a:bodyPr>
            <a:noAutofit/>
          </a:bodyPr>
          <a:lstStyle/>
          <a:p>
            <a:r>
              <a:rPr lang="en-CA" sz="4000" dirty="0" smtClean="0"/>
              <a:t>Define the Business/Project Objectives (Project Mission Statement)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dirty="0" smtClean="0"/>
              <a:t>Designed to build interest and enthusiasm, as well as build common vision towards purpose and goals.  Generally includes;</a:t>
            </a:r>
          </a:p>
          <a:p>
            <a:pPr lvl="1"/>
            <a:r>
              <a:rPr lang="en-CA" b="1" dirty="0" smtClean="0"/>
              <a:t>Why</a:t>
            </a:r>
            <a:r>
              <a:rPr lang="en-CA" dirty="0" smtClean="0"/>
              <a:t>?  Describe project need.  Describe the problems being solved.  Define strategic importance (SWOT)</a:t>
            </a:r>
          </a:p>
          <a:p>
            <a:pPr lvl="1"/>
            <a:r>
              <a:rPr lang="en-CA" b="1" dirty="0" smtClean="0"/>
              <a:t>What</a:t>
            </a:r>
            <a:r>
              <a:rPr lang="en-CA" dirty="0" smtClean="0"/>
              <a:t>?  End product or service.  Define success criterion</a:t>
            </a:r>
          </a:p>
          <a:p>
            <a:pPr lvl="1"/>
            <a:r>
              <a:rPr lang="en-CA" b="1" dirty="0" smtClean="0"/>
              <a:t>Who</a:t>
            </a:r>
            <a:r>
              <a:rPr lang="en-CA" dirty="0" smtClean="0"/>
              <a:t>?  Identify sponsor, customer, and end users</a:t>
            </a:r>
          </a:p>
          <a:p>
            <a:pPr lvl="1"/>
            <a:r>
              <a:rPr lang="en-CA" b="1" dirty="0" smtClean="0"/>
              <a:t>How</a:t>
            </a:r>
            <a:r>
              <a:rPr lang="en-CA" dirty="0" smtClean="0"/>
              <a:t>?  How will it be completed?  How will we know it is done?</a:t>
            </a:r>
          </a:p>
          <a:p>
            <a:pPr lvl="1"/>
            <a:r>
              <a:rPr lang="en-CA" b="1" dirty="0" smtClean="0"/>
              <a:t>Assumptions</a:t>
            </a:r>
            <a:r>
              <a:rPr lang="en-CA" dirty="0" smtClean="0"/>
              <a:t>?</a:t>
            </a:r>
          </a:p>
          <a:p>
            <a:pPr lvl="1"/>
            <a:r>
              <a:rPr lang="en-CA" b="1" dirty="0" smtClean="0"/>
              <a:t>Constraints</a:t>
            </a:r>
            <a:r>
              <a:rPr lang="en-CA" dirty="0" smtClean="0"/>
              <a:t>?</a:t>
            </a:r>
          </a:p>
          <a:p>
            <a:r>
              <a:rPr lang="en-CA" dirty="0" smtClean="0"/>
              <a:t>Remember project objectives should be ‘</a:t>
            </a:r>
            <a:r>
              <a:rPr lang="en-CA" b="1" dirty="0" smtClean="0"/>
              <a:t>SMART</a:t>
            </a:r>
            <a:r>
              <a:rPr lang="en-CA" dirty="0" smtClean="0"/>
              <a:t>’;</a:t>
            </a:r>
          </a:p>
          <a:p>
            <a:pPr lvl="1"/>
            <a:r>
              <a:rPr lang="en-CA" dirty="0" smtClean="0"/>
              <a:t>Specific, Measurable, Attainable, Relevant, and Time-sensitive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2. Define the End Product/Service (Scope)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SCOPE: The sum of products, activities, and results to be achieved upon completion of a project.  Scope helps to define the boundaries of project, and is intended to establish the work required for successful project completion.</a:t>
            </a:r>
          </a:p>
          <a:p>
            <a:pPr lvl="1"/>
            <a:r>
              <a:rPr lang="en-CA" b="1" dirty="0" smtClean="0"/>
              <a:t>Product Scope </a:t>
            </a:r>
            <a:r>
              <a:rPr lang="en-CA" dirty="0" smtClean="0"/>
              <a:t>– the products features and functions</a:t>
            </a:r>
          </a:p>
          <a:p>
            <a:pPr lvl="1"/>
            <a:r>
              <a:rPr lang="en-CA" b="1" dirty="0" smtClean="0"/>
              <a:t>Project Scope </a:t>
            </a:r>
            <a:r>
              <a:rPr lang="en-CA" dirty="0" smtClean="0"/>
              <a:t>– the work required to deliver the product</a:t>
            </a:r>
          </a:p>
          <a:p>
            <a:r>
              <a:rPr lang="en-CA" dirty="0" smtClean="0"/>
              <a:t>Consider scope inclusions/exclusions.  </a:t>
            </a:r>
          </a:p>
          <a:p>
            <a:pPr lvl="1"/>
            <a:r>
              <a:rPr lang="en-CA" dirty="0" smtClean="0"/>
              <a:t>E.g. </a:t>
            </a:r>
            <a:r>
              <a:rPr lang="en-CA" dirty="0" smtClean="0"/>
              <a:t>Installing </a:t>
            </a:r>
            <a:r>
              <a:rPr lang="en-CA" dirty="0" smtClean="0"/>
              <a:t>a new network, but using existing cabling.  Cabling may be assumed to be adequate, or, managed as a separate project.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8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3. Determine Project Priorities (Prioritize Scope)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681550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Discuss constrains with client (Time, Cost, Scope) to determine driving factor;</a:t>
            </a:r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r>
              <a:rPr lang="en-CA" dirty="0" smtClean="0"/>
              <a:t>1</a:t>
            </a:r>
            <a:r>
              <a:rPr lang="en-CA" baseline="30000" dirty="0" smtClean="0"/>
              <a:t>st</a:t>
            </a:r>
            <a:r>
              <a:rPr lang="en-CA" dirty="0" smtClean="0"/>
              <a:t> – can’t be adjusted</a:t>
            </a:r>
          </a:p>
          <a:p>
            <a:r>
              <a:rPr lang="en-CA" dirty="0" smtClean="0"/>
              <a:t>2</a:t>
            </a:r>
            <a:r>
              <a:rPr lang="en-CA" baseline="30000" dirty="0" smtClean="0"/>
              <a:t>nd</a:t>
            </a:r>
            <a:r>
              <a:rPr lang="en-CA" dirty="0" smtClean="0"/>
              <a:t> – must be optimized</a:t>
            </a:r>
          </a:p>
          <a:p>
            <a:r>
              <a:rPr lang="en-CA" dirty="0" smtClean="0"/>
              <a:t>3</a:t>
            </a:r>
            <a:r>
              <a:rPr lang="en-CA" baseline="30000" dirty="0" smtClean="0"/>
              <a:t>rd</a:t>
            </a:r>
            <a:r>
              <a:rPr lang="en-CA" dirty="0" smtClean="0"/>
              <a:t> – most flexible… may go outside of estimate</a:t>
            </a:r>
          </a:p>
          <a:p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57224" y="2428868"/>
          <a:ext cx="7215240" cy="228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810"/>
                <a:gridCol w="1803810"/>
                <a:gridCol w="1803810"/>
                <a:gridCol w="1803810"/>
              </a:tblGrid>
              <a:tr h="571504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Time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Cost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Scope</a:t>
                      </a:r>
                      <a:endParaRPr lang="en-CA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en-CA" dirty="0" smtClean="0"/>
                        <a:t>1</a:t>
                      </a:r>
                      <a:r>
                        <a:rPr lang="en-CA" baseline="30000" dirty="0" smtClean="0"/>
                        <a:t>st</a:t>
                      </a:r>
                      <a:r>
                        <a:rPr lang="en-CA" dirty="0" smtClean="0"/>
                        <a:t> Priority</a:t>
                      </a:r>
                      <a:endParaRPr lang="en-CA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en-CA" dirty="0" smtClean="0"/>
                        <a:t>2</a:t>
                      </a:r>
                      <a:r>
                        <a:rPr lang="en-CA" baseline="30000" dirty="0" smtClean="0"/>
                        <a:t>nd</a:t>
                      </a:r>
                      <a:r>
                        <a:rPr lang="en-CA" dirty="0" smtClean="0"/>
                        <a:t> Priority</a:t>
                      </a:r>
                      <a:endParaRPr lang="en-CA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CA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en-CA" dirty="0" smtClean="0"/>
                        <a:t>3</a:t>
                      </a:r>
                      <a:r>
                        <a:rPr lang="en-CA" baseline="30000" dirty="0" smtClean="0"/>
                        <a:t>rd</a:t>
                      </a:r>
                      <a:r>
                        <a:rPr lang="en-CA" dirty="0" smtClean="0"/>
                        <a:t> Priority</a:t>
                      </a:r>
                      <a:endParaRPr lang="en-CA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en-CA" dirty="0" smtClean="0"/>
              <a:t>4. Analyze Stakeholders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A project will not succeed unless the expectations of the stakeholders are clear and understood by all.</a:t>
            </a:r>
          </a:p>
          <a:p>
            <a:r>
              <a:rPr lang="en-CA" dirty="0" smtClean="0"/>
              <a:t>Steps to stakeholder analysis;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CA" dirty="0" smtClean="0"/>
              <a:t>Identify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CA" dirty="0" smtClean="0"/>
              <a:t>Assess involvement and influence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CA" dirty="0" smtClean="0"/>
              <a:t>Prioritize</a:t>
            </a:r>
            <a:endParaRPr lang="en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Analyze Stakeholders - Identify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Stakeholders could be in </a:t>
            </a:r>
            <a:r>
              <a:rPr lang="en-CA" dirty="0" smtClean="0"/>
              <a:t>three key </a:t>
            </a:r>
            <a:r>
              <a:rPr lang="en-CA" dirty="0" smtClean="0"/>
              <a:t>categories:</a:t>
            </a:r>
            <a:endParaRPr lang="en-CA" dirty="0" smtClean="0"/>
          </a:p>
          <a:p>
            <a:pPr lvl="1"/>
            <a:r>
              <a:rPr lang="en-CA" b="1" dirty="0" smtClean="0"/>
              <a:t>Internal</a:t>
            </a:r>
            <a:r>
              <a:rPr lang="en-CA" dirty="0" smtClean="0"/>
              <a:t> – committed to and participating directing in the project</a:t>
            </a:r>
          </a:p>
          <a:p>
            <a:pPr lvl="1"/>
            <a:r>
              <a:rPr lang="en-CA" b="1" dirty="0" smtClean="0"/>
              <a:t>External</a:t>
            </a:r>
            <a:r>
              <a:rPr lang="en-CA" dirty="0" smtClean="0"/>
              <a:t> – supplying resources to or impacted by the project</a:t>
            </a:r>
          </a:p>
          <a:p>
            <a:pPr lvl="1"/>
            <a:r>
              <a:rPr lang="en-CA" b="1" dirty="0" smtClean="0"/>
              <a:t>Hidden</a:t>
            </a:r>
            <a:r>
              <a:rPr lang="en-CA" dirty="0" smtClean="0"/>
              <a:t> – impacted by the creation of new actions, products, or tasks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Analyze Stakeholders - Assess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Stakeholder interest and involvement will vary for each project;</a:t>
            </a:r>
          </a:p>
          <a:p>
            <a:pPr lvl="1"/>
            <a:r>
              <a:rPr lang="en-CA" b="1" dirty="0" smtClean="0"/>
              <a:t>Interest </a:t>
            </a:r>
            <a:r>
              <a:rPr lang="en-CA" dirty="0" smtClean="0"/>
              <a:t>– consider both business (aiding in the furthering of the organization) and personal interests (increasing headcount, power, authority, personal growth)</a:t>
            </a:r>
          </a:p>
          <a:p>
            <a:pPr lvl="1"/>
            <a:r>
              <a:rPr lang="en-CA" b="1" dirty="0" smtClean="0"/>
              <a:t>Involvement </a:t>
            </a:r>
            <a:r>
              <a:rPr lang="en-CA" dirty="0" smtClean="0"/>
              <a:t>– participating in, supplying resources to or impacted by the project (look  to internal, external, hidden stakeholders)</a:t>
            </a:r>
          </a:p>
          <a:p>
            <a:pPr lvl="1"/>
            <a:r>
              <a:rPr lang="en-CA" b="1" dirty="0" smtClean="0"/>
              <a:t>Influence </a:t>
            </a:r>
            <a:r>
              <a:rPr lang="en-CA" dirty="0" smtClean="0"/>
              <a:t>– power and authority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Analyze Stakeholders - Prioritize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Stakeholder priority allows you to identify who you need most relevant/significant involvement from;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475656" y="2852936"/>
            <a:ext cx="0" cy="352839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475656" y="6381328"/>
            <a:ext cx="583264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6200000">
            <a:off x="606914" y="421644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Influence</a:t>
            </a:r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3635896" y="638132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Participation</a:t>
            </a:r>
            <a:endParaRPr lang="en-CA" dirty="0"/>
          </a:p>
        </p:txBody>
      </p:sp>
      <p:sp>
        <p:nvSpPr>
          <p:cNvPr id="11" name="TextBox 10"/>
          <p:cNvSpPr txBox="1"/>
          <p:nvPr/>
        </p:nvSpPr>
        <p:spPr>
          <a:xfrm>
            <a:off x="1619672" y="594928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 smtClean="0"/>
              <a:t>LOW - monitor</a:t>
            </a:r>
            <a:endParaRPr lang="en-CA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2996952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 smtClean="0"/>
              <a:t>HIGH – Manage Closely</a:t>
            </a:r>
            <a:endParaRPr lang="en-CA" b="1" i="1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483768" y="3429000"/>
            <a:ext cx="3888432" cy="237626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27984" y="2996952"/>
            <a:ext cx="0" cy="324036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267744" y="4581128"/>
            <a:ext cx="4392488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4208" y="586798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 smtClean="0"/>
              <a:t>Keep Informed</a:t>
            </a:r>
            <a:endParaRPr lang="en-CA" b="1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1691680" y="314096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 smtClean="0"/>
              <a:t>Keep Satisfied</a:t>
            </a:r>
            <a:endParaRPr lang="en-CA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000132"/>
          </a:xfrm>
        </p:spPr>
        <p:txBody>
          <a:bodyPr>
            <a:normAutofit/>
          </a:bodyPr>
          <a:lstStyle/>
          <a:p>
            <a:r>
              <a:rPr lang="en-CA" dirty="0" smtClean="0"/>
              <a:t>5. Assignment of Roles/Leads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91264" cy="5023460"/>
          </a:xfrm>
        </p:spPr>
        <p:txBody>
          <a:bodyPr/>
          <a:lstStyle/>
          <a:p>
            <a:r>
              <a:rPr lang="en-CA" dirty="0" smtClean="0"/>
              <a:t>The following is an example of a Responsibility Assignment Matrix (RAM</a:t>
            </a:r>
            <a:r>
              <a:rPr lang="en-CA" dirty="0" smtClean="0"/>
              <a:t>):</a:t>
            </a:r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9551" y="2357430"/>
          <a:ext cx="7920880" cy="40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584176"/>
                <a:gridCol w="1584176"/>
              </a:tblGrid>
              <a:tr h="701858">
                <a:tc>
                  <a:txBody>
                    <a:bodyPr/>
                    <a:lstStyle/>
                    <a:p>
                      <a:pPr algn="ctr"/>
                      <a:r>
                        <a:rPr lang="en-CA" sz="2000" b="1" u="sng" dirty="0" smtClean="0"/>
                        <a:t>Tasks</a:t>
                      </a:r>
                      <a:endParaRPr lang="en-CA" sz="20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 smtClean="0"/>
                        <a:t>Ted</a:t>
                      </a:r>
                    </a:p>
                    <a:p>
                      <a:pPr algn="ctr"/>
                      <a:r>
                        <a:rPr lang="en-CA" b="1" dirty="0" smtClean="0"/>
                        <a:t>(Team Lead)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 smtClean="0"/>
                        <a:t>Sally</a:t>
                      </a:r>
                    </a:p>
                    <a:p>
                      <a:pPr algn="ctr"/>
                      <a:r>
                        <a:rPr lang="en-CA" b="1" dirty="0" smtClean="0"/>
                        <a:t>(Team)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 smtClean="0"/>
                        <a:t>Joe</a:t>
                      </a:r>
                    </a:p>
                    <a:p>
                      <a:pPr algn="ctr"/>
                      <a:r>
                        <a:rPr lang="en-CA" b="1" dirty="0" smtClean="0"/>
                        <a:t>(sponsor)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 smtClean="0"/>
                        <a:t>Paul (customer)</a:t>
                      </a:r>
                      <a:endParaRPr lang="en-CA" b="1" dirty="0"/>
                    </a:p>
                  </a:txBody>
                  <a:tcPr/>
                </a:tc>
              </a:tr>
              <a:tr h="56817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Assess Requirements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I, R, A</a:t>
                      </a:r>
                      <a:endParaRPr lang="en-CA" dirty="0"/>
                    </a:p>
                  </a:txBody>
                  <a:tcPr/>
                </a:tc>
              </a:tr>
              <a:tr h="56817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Design Business System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C1, C2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R, A</a:t>
                      </a:r>
                      <a:endParaRPr lang="en-CA" dirty="0"/>
                    </a:p>
                  </a:txBody>
                  <a:tcPr/>
                </a:tc>
              </a:tr>
              <a:tr h="56817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Modify Purchase System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C2, 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R, A</a:t>
                      </a:r>
                    </a:p>
                  </a:txBody>
                  <a:tcPr/>
                </a:tc>
              </a:tr>
              <a:tr h="56817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Test Purchase</a:t>
                      </a:r>
                      <a:r>
                        <a:rPr lang="en-CA" sz="1400" baseline="0" dirty="0" smtClean="0"/>
                        <a:t> System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C2</a:t>
                      </a:r>
                      <a:endParaRPr lang="en-CA" dirty="0"/>
                    </a:p>
                  </a:txBody>
                  <a:tcPr/>
                </a:tc>
              </a:tr>
              <a:tr h="56817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Implement System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C2, 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N, O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R, A</a:t>
                      </a:r>
                      <a:endParaRPr lang="en-CA" dirty="0"/>
                    </a:p>
                  </a:txBody>
                  <a:tcPr/>
                </a:tc>
              </a:tr>
              <a:tr h="481187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Train Staff/Users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I, 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I, 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C1, O</a:t>
                      </a:r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Communication Planning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smtClean="0"/>
              <a:t>Establish status reporting by;</a:t>
            </a:r>
          </a:p>
          <a:p>
            <a:pPr lvl="1"/>
            <a:r>
              <a:rPr lang="en-CA" dirty="0" smtClean="0"/>
              <a:t>Analyzing stakeholder information and needs</a:t>
            </a:r>
          </a:p>
          <a:p>
            <a:pPr lvl="1"/>
            <a:r>
              <a:rPr lang="en-CA" dirty="0" smtClean="0"/>
              <a:t>Designing reports and meetings to meet needs</a:t>
            </a:r>
          </a:p>
          <a:p>
            <a:pPr lvl="1"/>
            <a:r>
              <a:rPr lang="en-CA" dirty="0" smtClean="0"/>
              <a:t>Conducting meetings</a:t>
            </a:r>
          </a:p>
          <a:p>
            <a:r>
              <a:rPr lang="en-CA" dirty="0" smtClean="0"/>
              <a:t>The Communications Plan identifies;</a:t>
            </a:r>
          </a:p>
          <a:p>
            <a:pPr lvl="1"/>
            <a:r>
              <a:rPr lang="en-CA" dirty="0" smtClean="0"/>
              <a:t>Person/Role responsible for preparation</a:t>
            </a:r>
          </a:p>
          <a:p>
            <a:pPr lvl="1"/>
            <a:r>
              <a:rPr lang="en-CA" dirty="0" smtClean="0"/>
              <a:t>Intended audience</a:t>
            </a:r>
          </a:p>
          <a:p>
            <a:pPr lvl="1"/>
            <a:r>
              <a:rPr lang="en-CA" dirty="0" smtClean="0"/>
              <a:t>Frequency of preparation</a:t>
            </a:r>
          </a:p>
          <a:p>
            <a:pPr lvl="1"/>
            <a:r>
              <a:rPr lang="en-CA" dirty="0" smtClean="0"/>
              <a:t>Level of detail</a:t>
            </a:r>
          </a:p>
          <a:p>
            <a:pPr lvl="1"/>
            <a:r>
              <a:rPr lang="en-CA" dirty="0" smtClean="0"/>
              <a:t>Method of delivery</a:t>
            </a:r>
          </a:p>
          <a:p>
            <a:pPr lvl="1"/>
            <a:r>
              <a:rPr lang="en-CA" dirty="0" smtClean="0"/>
              <a:t>Action required by participants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Good luck with your projects!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9712" y="3228536"/>
            <a:ext cx="6408384" cy="2072672"/>
          </a:xfrm>
        </p:spPr>
        <p:txBody>
          <a:bodyPr numCol="1"/>
          <a:lstStyle/>
          <a:p>
            <a:pPr algn="ctr"/>
            <a:endParaRPr lang="en-CA" dirty="0" smtClean="0"/>
          </a:p>
          <a:p>
            <a:r>
              <a:rPr lang="en-CA" dirty="0" smtClean="0"/>
              <a:t>Project Assessment/Charter works as an effective tool!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844</Words>
  <Application>Microsoft Office PowerPoint</Application>
  <PresentationFormat>On-screen Show (4:3)</PresentationFormat>
  <Paragraphs>162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Flow</vt:lpstr>
      <vt:lpstr>Defining the Project Needs</vt:lpstr>
      <vt:lpstr>Agenda</vt:lpstr>
      <vt:lpstr>Initiating a Project</vt:lpstr>
      <vt:lpstr>Deliverables from Project  Initiation</vt:lpstr>
      <vt:lpstr>Process for Defining a Project</vt:lpstr>
      <vt:lpstr>1. Determine the ‘Real’ Need</vt:lpstr>
      <vt:lpstr>Define the Business/Project Objectives (Project Mission Statement)</vt:lpstr>
      <vt:lpstr>2. Define the End Product/Service (Scope)</vt:lpstr>
      <vt:lpstr>3. Determine Project Priorities (Prioritize Scope)</vt:lpstr>
      <vt:lpstr>4. Analyze Stakeholders</vt:lpstr>
      <vt:lpstr>Analyze Stakeholders - Identify</vt:lpstr>
      <vt:lpstr>Analyze Stakeholders - Assess</vt:lpstr>
      <vt:lpstr>Analyze Stakeholders - Prioritize</vt:lpstr>
      <vt:lpstr>5. Assignment of Roles/Leads</vt:lpstr>
      <vt:lpstr>Communication Planning</vt:lpstr>
      <vt:lpstr>Good luck with your projects!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the Project</dc:title>
  <dc:creator>Tyler</dc:creator>
  <cp:lastModifiedBy>Anjana</cp:lastModifiedBy>
  <cp:revision>29</cp:revision>
  <dcterms:created xsi:type="dcterms:W3CDTF">2011-09-08T17:11:36Z</dcterms:created>
  <dcterms:modified xsi:type="dcterms:W3CDTF">2020-09-14T16:30:23Z</dcterms:modified>
</cp:coreProperties>
</file>